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20DE7-D424-47CF-ADDA-C02440B712A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56835D5B-AEE8-44CB-A1C2-5868B0E524B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9974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20DE7-D424-47CF-ADDA-C02440B712A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35D5B-AEE8-44CB-A1C2-5868B0E524B1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5102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20DE7-D424-47CF-ADDA-C02440B712A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35D5B-AEE8-44CB-A1C2-5868B0E524B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6174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20DE7-D424-47CF-ADDA-C02440B712A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35D5B-AEE8-44CB-A1C2-5868B0E524B1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5531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20DE7-D424-47CF-ADDA-C02440B712A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35D5B-AEE8-44CB-A1C2-5868B0E524B1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7511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20DE7-D424-47CF-ADDA-C02440B712A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35D5B-AEE8-44CB-A1C2-5868B0E524B1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7183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20DE7-D424-47CF-ADDA-C02440B712A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35D5B-AEE8-44CB-A1C2-5868B0E52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931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20DE7-D424-47CF-ADDA-C02440B712A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35D5B-AEE8-44CB-A1C2-5868B0E524B1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1883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E7D20DE7-D424-47CF-ADDA-C02440B712A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35D5B-AEE8-44CB-A1C2-5868B0E524B1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3069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20DE7-D424-47CF-ADDA-C02440B712A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35D5B-AEE8-44CB-A1C2-5868B0E524B1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3886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20DE7-D424-47CF-ADDA-C02440B712A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35D5B-AEE8-44CB-A1C2-5868B0E524B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8376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D20DE7-D424-47CF-ADDA-C02440B712A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56835D5B-AEE8-44CB-A1C2-5868B0E524B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463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DAEBB-B66F-7163-96A2-5A8EDD613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802298"/>
            <a:ext cx="8752114" cy="2146175"/>
          </a:xfrm>
        </p:spPr>
        <p:txBody>
          <a:bodyPr/>
          <a:lstStyle/>
          <a:p>
            <a:r>
              <a:rPr lang="en-US"/>
              <a:t>TCS Stock Analysis &amp; Price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FC6616-4BAF-C430-0953-3ACC28CBA2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860" y="3531204"/>
            <a:ext cx="7567127" cy="977621"/>
          </a:xfrm>
        </p:spPr>
        <p:txBody>
          <a:bodyPr/>
          <a:lstStyle/>
          <a:p>
            <a:r>
              <a:rPr lang="en-US"/>
              <a:t>     Python | Time Series Analysis |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503320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396B7-3F3B-FF40-BFB7-2C89777B6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Objective of the Project: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DBAB9-B191-7246-753E-63BE510FF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Analyze historical stock performance of TCS</a:t>
            </a:r>
          </a:p>
          <a:p>
            <a:r>
              <a:rPr lang="en-US"/>
              <a:t>Identify price trends, volatility, and seasonality</a:t>
            </a:r>
          </a:p>
          <a:p>
            <a:r>
              <a:rPr lang="en-US"/>
              <a:t>Perform time-series analysis on closing prices</a:t>
            </a:r>
          </a:p>
          <a:p>
            <a:r>
              <a:rPr lang="en-US"/>
              <a:t>Predict next-day closing price using Machine Learning</a:t>
            </a:r>
          </a:p>
          <a:p>
            <a:r>
              <a:rPr lang="en-US"/>
              <a:t>Build a portfolio-ready analytics project</a:t>
            </a:r>
          </a:p>
        </p:txBody>
      </p:sp>
    </p:spTree>
    <p:extLst>
      <p:ext uri="{BB962C8B-B14F-4D97-AF65-F5344CB8AC3E}">
        <p14:creationId xmlns:p14="http://schemas.microsoft.com/office/powerpoint/2010/main" val="3615965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47918-570E-3A42-9156-C2C94E816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Source: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67003-5E7A-2021-0530-4E20CFB0A5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Date</a:t>
            </a:r>
          </a:p>
          <a:p>
            <a:r>
              <a:rPr lang="en-US"/>
              <a:t>Open</a:t>
            </a:r>
          </a:p>
          <a:p>
            <a:r>
              <a:rPr lang="en-US"/>
              <a:t>High</a:t>
            </a:r>
          </a:p>
          <a:p>
            <a:r>
              <a:rPr lang="en-US"/>
              <a:t>Low</a:t>
            </a:r>
          </a:p>
          <a:p>
            <a:r>
              <a:rPr lang="en-US"/>
              <a:t>Close</a:t>
            </a:r>
          </a:p>
          <a:p>
            <a:r>
              <a:rPr lang="en-US"/>
              <a:t>Volume</a:t>
            </a:r>
          </a:p>
          <a:p>
            <a:r>
              <a:rPr lang="en-US"/>
              <a:t>Divdents</a:t>
            </a:r>
          </a:p>
          <a:p>
            <a:r>
              <a:rPr lang="en-US"/>
              <a:t>stocksplit</a:t>
            </a:r>
          </a:p>
        </p:txBody>
      </p:sp>
    </p:spTree>
    <p:extLst>
      <p:ext uri="{BB962C8B-B14F-4D97-AF65-F5344CB8AC3E}">
        <p14:creationId xmlns:p14="http://schemas.microsoft.com/office/powerpoint/2010/main" val="269418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93CBE-C008-3A61-5499-4BDD8056D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B2865-2AD8-9727-6748-154EFC0C3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/>
              <a:t>EDA Performed:</a:t>
            </a:r>
          </a:p>
          <a:p>
            <a:r>
              <a:rPr lang="en-US"/>
              <a:t>Closing price trend analysis</a:t>
            </a:r>
          </a:p>
          <a:p>
            <a:r>
              <a:rPr lang="en-US"/>
              <a:t>Trading volume analysis</a:t>
            </a:r>
          </a:p>
          <a:p>
            <a:r>
              <a:rPr lang="en-US"/>
              <a:t>Correlation analysis between price features</a:t>
            </a:r>
          </a:p>
          <a:p>
            <a:r>
              <a:rPr lang="en-US"/>
              <a:t>Moving averages (20-day &amp; 50-day)</a:t>
            </a:r>
          </a:p>
          <a:p>
            <a:pPr marL="0" indent="0">
              <a:buNone/>
            </a:pPr>
            <a:r>
              <a:rPr lang="en-US"/>
              <a:t>Purpose:</a:t>
            </a:r>
          </a:p>
          <a:p>
            <a:r>
              <a:rPr lang="en-US"/>
              <a:t>Understand market behavior</a:t>
            </a:r>
          </a:p>
          <a:p>
            <a:r>
              <a:rPr lang="en-US"/>
              <a:t>Identify long-term and short-term trends</a:t>
            </a:r>
          </a:p>
        </p:txBody>
      </p:sp>
    </p:spTree>
    <p:extLst>
      <p:ext uri="{BB962C8B-B14F-4D97-AF65-F5344CB8AC3E}">
        <p14:creationId xmlns:p14="http://schemas.microsoft.com/office/powerpoint/2010/main" val="518232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51803-8EE8-9E63-AEE0-551E2A76C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Observations: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D948E-8800-3A72-982F-3E2A737D3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TCS stock shows a long-term upward trend</a:t>
            </a:r>
          </a:p>
          <a:p>
            <a:r>
              <a:rPr lang="en-US"/>
              <a:t>Short-term fluctuations observed due to market conditions</a:t>
            </a:r>
          </a:p>
          <a:p>
            <a:r>
              <a:rPr lang="en-US"/>
              <a:t>Trend analysis helps identify growth phases</a:t>
            </a:r>
          </a:p>
        </p:txBody>
      </p:sp>
    </p:spTree>
    <p:extLst>
      <p:ext uri="{BB962C8B-B14F-4D97-AF65-F5344CB8AC3E}">
        <p14:creationId xmlns:p14="http://schemas.microsoft.com/office/powerpoint/2010/main" val="2579522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DCFD9-8F4E-4F32-C5D7-47FFB7B67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Closing Price Trend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B8B1E-A99E-60DE-D7CB-9D52C1C98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5546380" cy="3450613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Key Observations:</a:t>
            </a:r>
          </a:p>
          <a:p>
            <a:r>
              <a:rPr lang="en-US"/>
              <a:t>TCS stock shows a long-term upward trend</a:t>
            </a:r>
          </a:p>
          <a:p>
            <a:r>
              <a:rPr lang="en-US"/>
              <a:t>Short-term fluctuations observed due to market conditions</a:t>
            </a:r>
          </a:p>
          <a:p>
            <a:r>
              <a:rPr lang="en-US"/>
              <a:t>Trend analysis helps identify growth phases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35CD7C-FD64-86CA-0D65-BE5B3E44D5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662" y="2118049"/>
            <a:ext cx="5203370" cy="360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059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5DD9-B8CE-80F8-B7D1-FA6451652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Volume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50250-5DC6-70C3-8254-88400AE5A80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Sudden volume spikes align with major price movements</a:t>
            </a:r>
          </a:p>
          <a:p>
            <a:r>
              <a:rPr lang="en-US"/>
              <a:t>Higher trading volume indicates strong market activity</a:t>
            </a:r>
          </a:p>
          <a:p>
            <a:r>
              <a:rPr lang="en-US"/>
              <a:t>Volume helps validate price trends</a:t>
            </a:r>
          </a:p>
        </p:txBody>
      </p:sp>
      <p:pic>
        <p:nvPicPr>
          <p:cNvPr id="6" name="Content Placeholder 5" descr="A graph of a graph showing a number of numbers and a number&#10;&#10;AI-generated content may be incorrect.">
            <a:extLst>
              <a:ext uri="{FF2B5EF4-FFF2-40B4-BE49-F238E27FC236}">
                <a16:creationId xmlns:a16="http://schemas.microsoft.com/office/drawing/2014/main" id="{87A2EB63-2D58-4AA0-73C2-78D19984E1D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0038" y="2202024"/>
            <a:ext cx="6127866" cy="3069772"/>
          </a:xfrm>
        </p:spPr>
      </p:pic>
    </p:spTree>
    <p:extLst>
      <p:ext uri="{BB962C8B-B14F-4D97-AF65-F5344CB8AC3E}">
        <p14:creationId xmlns:p14="http://schemas.microsoft.com/office/powerpoint/2010/main" val="3254597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8B0DB-8EFB-C0E8-0D4D-9D3368BBF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Time Series Decomposition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AC86A-D571-0E83-322E-943010459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/>
              <a:t>Technique Used:</a:t>
            </a:r>
          </a:p>
          <a:p>
            <a:r>
              <a:rPr lang="en-US"/>
              <a:t>Monthly resampling of closing prices</a:t>
            </a:r>
          </a:p>
          <a:p>
            <a:r>
              <a:rPr lang="en-US"/>
              <a:t>Seasonal decomposition</a:t>
            </a:r>
          </a:p>
          <a:p>
            <a:pPr marL="0" indent="0">
              <a:buNone/>
            </a:pPr>
            <a:r>
              <a:rPr lang="en-US"/>
              <a:t>Components Analyzed:</a:t>
            </a:r>
          </a:p>
          <a:p>
            <a:r>
              <a:rPr lang="en-US"/>
              <a:t>Trend</a:t>
            </a:r>
          </a:p>
          <a:p>
            <a:r>
              <a:rPr lang="en-US"/>
              <a:t>Seasonality</a:t>
            </a:r>
          </a:p>
          <a:p>
            <a:r>
              <a:rPr lang="en-US"/>
              <a:t>Residuals</a:t>
            </a:r>
          </a:p>
          <a:p>
            <a:pPr marL="0" indent="0">
              <a:buNone/>
            </a:pPr>
            <a:r>
              <a:rPr lang="en-US"/>
              <a:t>Benefit:</a:t>
            </a:r>
          </a:p>
          <a:p>
            <a:r>
              <a:rPr lang="en-US"/>
              <a:t>Helps understand long-term patterns and cyclic behavior</a:t>
            </a:r>
          </a:p>
        </p:txBody>
      </p:sp>
    </p:spTree>
    <p:extLst>
      <p:ext uri="{BB962C8B-B14F-4D97-AF65-F5344CB8AC3E}">
        <p14:creationId xmlns:p14="http://schemas.microsoft.com/office/powerpoint/2010/main" val="2558820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18A05-7F99-6AD1-152E-10EFF5C63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A2F62-279C-4C9D-9B60-6085541AB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/>
              <a:t>Features Created for ML:</a:t>
            </a:r>
          </a:p>
          <a:p>
            <a:r>
              <a:rPr lang="en-US"/>
              <a:t>Open, High, Low, Close prices</a:t>
            </a:r>
          </a:p>
          <a:p>
            <a:r>
              <a:rPr lang="en-US"/>
              <a:t>Trading Volume</a:t>
            </a:r>
          </a:p>
          <a:p>
            <a:r>
              <a:rPr lang="en-US"/>
              <a:t>Lag-based target (Next-day Close Price)</a:t>
            </a:r>
          </a:p>
          <a:p>
            <a:r>
              <a:rPr lang="en-US"/>
              <a:t>Moving Averages (MA20, MA50)</a:t>
            </a:r>
          </a:p>
          <a:p>
            <a:pPr marL="0" indent="0">
              <a:buNone/>
            </a:pPr>
            <a:r>
              <a:rPr lang="en-US"/>
              <a:t>Why Feature Engineering?</a:t>
            </a:r>
          </a:p>
          <a:p>
            <a:r>
              <a:rPr lang="en-US"/>
              <a:t>Improves model learning</a:t>
            </a:r>
          </a:p>
          <a:p>
            <a:r>
              <a:rPr lang="en-US"/>
              <a:t>Captures price behavior effectively</a:t>
            </a:r>
          </a:p>
        </p:txBody>
      </p:sp>
    </p:spTree>
    <p:extLst>
      <p:ext uri="{BB962C8B-B14F-4D97-AF65-F5344CB8AC3E}">
        <p14:creationId xmlns:p14="http://schemas.microsoft.com/office/powerpoint/2010/main" val="4292463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79E9B-7986-2E42-7A65-583579F67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Machine Learning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94A5D-AAA9-B9C2-C5A9-F96610535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Model Used:</a:t>
            </a:r>
          </a:p>
          <a:p>
            <a:r>
              <a:rPr lang="en-US"/>
              <a:t>Linear Regression</a:t>
            </a:r>
          </a:p>
          <a:p>
            <a:pPr marL="0" indent="0">
              <a:buNone/>
            </a:pPr>
            <a:r>
              <a:rPr lang="en-US"/>
              <a:t>Approach:</a:t>
            </a:r>
          </a:p>
          <a:p>
            <a:r>
              <a:rPr lang="en-US"/>
              <a:t>Time-series safe train-test split (no shuffling)</a:t>
            </a:r>
          </a:p>
          <a:p>
            <a:r>
              <a:rPr lang="en-US"/>
              <a:t>Predict next-day closing price</a:t>
            </a:r>
          </a:p>
        </p:txBody>
      </p:sp>
    </p:spTree>
    <p:extLst>
      <p:ext uri="{BB962C8B-B14F-4D97-AF65-F5344CB8AC3E}">
        <p14:creationId xmlns:p14="http://schemas.microsoft.com/office/powerpoint/2010/main" val="1293722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B595D-08A4-FC50-ACA1-6B9721DC2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73DA1-4D64-CEE6-E803-E16B81A0F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Evaluation Metrics:</a:t>
            </a:r>
          </a:p>
          <a:p>
            <a:r>
              <a:rPr lang="en-US"/>
              <a:t>RMSE (Root Mean Squared Error)</a:t>
            </a:r>
          </a:p>
          <a:p>
            <a:r>
              <a:rPr lang="en-US"/>
              <a:t>R² Score</a:t>
            </a:r>
          </a:p>
          <a:p>
            <a:pPr marL="0" indent="0">
              <a:buNone/>
            </a:pPr>
            <a:r>
              <a:rPr lang="en-US"/>
              <a:t>Results:</a:t>
            </a:r>
          </a:p>
          <a:p>
            <a:r>
              <a:rPr lang="en-US"/>
              <a:t>Model provides reasonable short-term predictions</a:t>
            </a:r>
          </a:p>
          <a:p>
            <a:r>
              <a:rPr lang="en-US"/>
              <a:t>Actual vs Predicted price comparison performed</a:t>
            </a:r>
          </a:p>
        </p:txBody>
      </p:sp>
      <p:pic>
        <p:nvPicPr>
          <p:cNvPr id="5" name="Picture 4" descr="A graph with orange lines&#10;&#10;AI-generated content may be incorrect.">
            <a:extLst>
              <a:ext uri="{FF2B5EF4-FFF2-40B4-BE49-F238E27FC236}">
                <a16:creationId xmlns:a16="http://schemas.microsoft.com/office/drawing/2014/main" id="{58F0389C-6D4F-77AF-2CA0-0F8DB0A5C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2604" y="2015732"/>
            <a:ext cx="4973216" cy="3806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884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B3CD8-2EBC-A340-E6C9-C93B204C8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Business Insights: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D06F6-0FA3-206D-CF40-2967DD163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TCS stock demonstrates consistent long-term growth</a:t>
            </a:r>
          </a:p>
          <a:p>
            <a:r>
              <a:rPr lang="en-US"/>
              <a:t>Moving averages help identify bullish and bearish phases</a:t>
            </a:r>
          </a:p>
          <a:p>
            <a:r>
              <a:rPr lang="en-US"/>
              <a:t>Volume plays a key role in validating price trends</a:t>
            </a:r>
          </a:p>
          <a:p>
            <a:r>
              <a:rPr lang="en-US"/>
              <a:t>ML model captures general price movement effectively</a:t>
            </a:r>
          </a:p>
        </p:txBody>
      </p:sp>
    </p:spTree>
    <p:extLst>
      <p:ext uri="{BB962C8B-B14F-4D97-AF65-F5344CB8AC3E}">
        <p14:creationId xmlns:p14="http://schemas.microsoft.com/office/powerpoint/2010/main" val="1562421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E21A-B0D2-2F74-93A3-E4C64424E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E7EC9-188C-0F37-5234-D40A1F2D1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/>
              <a:t>Conclusion:</a:t>
            </a:r>
          </a:p>
          <a:p>
            <a:r>
              <a:rPr lang="en-US"/>
              <a:t>Successfully completed end-to-end stock analysis</a:t>
            </a:r>
          </a:p>
          <a:p>
            <a:r>
              <a:rPr lang="en-US"/>
              <a:t>Combined EDA, time-series analysis, and ML</a:t>
            </a:r>
          </a:p>
          <a:p>
            <a:r>
              <a:rPr lang="en-US"/>
              <a:t>Strong portfolio project for data analyst roles</a:t>
            </a:r>
          </a:p>
          <a:p>
            <a:pPr marL="0" indent="0">
              <a:buNone/>
            </a:pPr>
            <a:r>
              <a:rPr lang="en-US"/>
              <a:t>Future Enhancements:</a:t>
            </a:r>
          </a:p>
          <a:p>
            <a:r>
              <a:rPr lang="en-US"/>
              <a:t>Use advanced models (Random Forest, LSTM)</a:t>
            </a:r>
          </a:p>
          <a:p>
            <a:r>
              <a:rPr lang="en-US"/>
              <a:t>Add Power BI dashboard</a:t>
            </a:r>
          </a:p>
          <a:p>
            <a:r>
              <a:rPr lang="en-US"/>
              <a:t>Include more technical indicators</a:t>
            </a:r>
          </a:p>
        </p:txBody>
      </p:sp>
    </p:spTree>
    <p:extLst>
      <p:ext uri="{BB962C8B-B14F-4D97-AF65-F5344CB8AC3E}">
        <p14:creationId xmlns:p14="http://schemas.microsoft.com/office/powerpoint/2010/main" val="1960289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9987D-BF39-D87E-8DAE-9FBEC9DA9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6915" y="1847461"/>
            <a:ext cx="9617940" cy="1660849"/>
          </a:xfrm>
        </p:spPr>
        <p:txBody>
          <a:bodyPr/>
          <a:lstStyle/>
          <a:p>
            <a:r>
              <a:rPr lang="en-US"/>
              <a:t>                             </a:t>
            </a:r>
            <a:r>
              <a:rPr lang="en-US" sz="400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6735144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30</TotalTime>
  <Words>373</Words>
  <Application>Microsoft Office PowerPoint</Application>
  <PresentationFormat>Widescreen</PresentationFormat>
  <Paragraphs>86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Gill Sans MT</vt:lpstr>
      <vt:lpstr>Gallery</vt:lpstr>
      <vt:lpstr>TCS Stock Analysis &amp; Price Prediction</vt:lpstr>
      <vt:lpstr>Objective of the Project:</vt:lpstr>
      <vt:lpstr>Data Source:</vt:lpstr>
      <vt:lpstr>Exploratory Data Analysis (EDA)</vt:lpstr>
      <vt:lpstr>Key Observations:</vt:lpstr>
      <vt:lpstr>Closing Price Trend</vt:lpstr>
      <vt:lpstr>Volume Analysis</vt:lpstr>
      <vt:lpstr>Time Series Decomposition</vt:lpstr>
      <vt:lpstr>Feature Engineering</vt:lpstr>
      <vt:lpstr>Machine Learning Model</vt:lpstr>
      <vt:lpstr>Model Evaluation</vt:lpstr>
      <vt:lpstr>Business Insights:</vt:lpstr>
      <vt:lpstr>Conclusion &amp; Future Scope</vt:lpstr>
      <vt:lpstr>                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sushil admane</dc:creator>
  <cp:lastModifiedBy>sushil admane</cp:lastModifiedBy>
  <cp:revision>1</cp:revision>
  <dcterms:created xsi:type="dcterms:W3CDTF">2025-12-16T08:04:03Z</dcterms:created>
  <dcterms:modified xsi:type="dcterms:W3CDTF">2025-12-16T08:34:10Z</dcterms:modified>
</cp:coreProperties>
</file>